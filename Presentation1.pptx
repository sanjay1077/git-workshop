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88" r:id="rId1"/>
  </p:sldMasterIdLst>
  <p:sldIdLst>
    <p:sldId id="258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 autoAdjust="0"/>
    <p:restoredTop sz="94660"/>
  </p:normalViewPr>
  <p:slideViewPr>
    <p:cSldViewPr snapToGrid="0">
      <p:cViewPr varScale="1">
        <p:scale>
          <a:sx n="76" d="100"/>
          <a:sy n="76" d="100"/>
        </p:scale>
        <p:origin x="4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 Kumar" userId="08588b23abd0f12f" providerId="LiveId" clId="{B2CE7514-3074-459C-BB4D-01AF24FC2B9B}"/>
    <pc:docChg chg="custSel modSld">
      <pc:chgData name="Sanjay Kumar" userId="08588b23abd0f12f" providerId="LiveId" clId="{B2CE7514-3074-459C-BB4D-01AF24FC2B9B}" dt="2025-11-20T05:56:03.840" v="2" actId="20577"/>
      <pc:docMkLst>
        <pc:docMk/>
      </pc:docMkLst>
      <pc:sldChg chg="modSp mod">
        <pc:chgData name="Sanjay Kumar" userId="08588b23abd0f12f" providerId="LiveId" clId="{B2CE7514-3074-459C-BB4D-01AF24FC2B9B}" dt="2025-11-20T05:56:03.840" v="2" actId="20577"/>
        <pc:sldMkLst>
          <pc:docMk/>
          <pc:sldMk cId="4228977894" sldId="258"/>
        </pc:sldMkLst>
        <pc:spChg chg="mod">
          <ac:chgData name="Sanjay Kumar" userId="08588b23abd0f12f" providerId="LiveId" clId="{B2CE7514-3074-459C-BB4D-01AF24FC2B9B}" dt="2025-11-20T05:56:03.840" v="2" actId="20577"/>
          <ac:spMkLst>
            <pc:docMk/>
            <pc:sldMk cId="4228977894" sldId="258"/>
            <ac:spMk id="5" creationId="{AF59BF5B-438E-3A0D-DDF6-CAD0CC875B7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583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8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558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69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972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348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75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8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515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759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85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1363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92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479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841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0628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207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04923-16B3-469C-8E85-68F3A648234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CB6EE-8EE3-4985-B384-7C33FA2F7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6866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89" r:id="rId1"/>
    <p:sldLayoutId id="2147484290" r:id="rId2"/>
    <p:sldLayoutId id="2147484291" r:id="rId3"/>
    <p:sldLayoutId id="2147484292" r:id="rId4"/>
    <p:sldLayoutId id="2147484293" r:id="rId5"/>
    <p:sldLayoutId id="2147484294" r:id="rId6"/>
    <p:sldLayoutId id="2147484295" r:id="rId7"/>
    <p:sldLayoutId id="2147484296" r:id="rId8"/>
    <p:sldLayoutId id="2147484297" r:id="rId9"/>
    <p:sldLayoutId id="2147484298" r:id="rId10"/>
    <p:sldLayoutId id="2147484299" r:id="rId11"/>
    <p:sldLayoutId id="2147484300" r:id="rId12"/>
    <p:sldLayoutId id="2147484301" r:id="rId13"/>
    <p:sldLayoutId id="2147484302" r:id="rId14"/>
    <p:sldLayoutId id="2147484303" r:id="rId15"/>
    <p:sldLayoutId id="2147484304" r:id="rId16"/>
    <p:sldLayoutId id="214748430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47C340-53A6-7C3C-EC92-27F3CF3D2D78}"/>
              </a:ext>
            </a:extLst>
          </p:cNvPr>
          <p:cNvSpPr txBox="1"/>
          <p:nvPr/>
        </p:nvSpPr>
        <p:spPr>
          <a:xfrm>
            <a:off x="1411357" y="407505"/>
            <a:ext cx="95713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dirty="0">
                <a:latin typeface="Bahnschrift SemiBold" panose="020B0502040204020203" pitchFamily="34" charset="0"/>
              </a:rPr>
              <a:t>24CDT11 HUMAN COMPUTER INTERACTION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9BF5B-438E-3A0D-DDF6-CAD0CC875B7D}"/>
              </a:ext>
            </a:extLst>
          </p:cNvPr>
          <p:cNvSpPr txBox="1"/>
          <p:nvPr/>
        </p:nvSpPr>
        <p:spPr>
          <a:xfrm>
            <a:off x="4403034" y="1480930"/>
            <a:ext cx="3876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>
                <a:latin typeface="Bahnschrift SemiBold" panose="020B0502040204020203" pitchFamily="34" charset="0"/>
              </a:rPr>
              <a:t>TEAM – CALCWEAR s</a:t>
            </a:r>
            <a:endParaRPr lang="en-IN" sz="2800" dirty="0">
              <a:latin typeface="Bahnschrift SemiBol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A6B7C-436D-2041-B3C1-EF000E7242F9}"/>
              </a:ext>
            </a:extLst>
          </p:cNvPr>
          <p:cNvSpPr txBox="1"/>
          <p:nvPr/>
        </p:nvSpPr>
        <p:spPr>
          <a:xfrm>
            <a:off x="2746513" y="3314967"/>
            <a:ext cx="94852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ahnschrift SemiBold" panose="020B0502040204020203" pitchFamily="34" charset="0"/>
              </a:rPr>
              <a:t>SANJAI K                     - 25CDR085</a:t>
            </a:r>
          </a:p>
          <a:p>
            <a:r>
              <a:rPr lang="en-IN" sz="3200" dirty="0">
                <a:latin typeface="Bahnschrift SemiBold" panose="020B0502040204020203" pitchFamily="34" charset="0"/>
              </a:rPr>
              <a:t>SANJAY KUMAR U       - 25CDR087</a:t>
            </a:r>
          </a:p>
          <a:p>
            <a:r>
              <a:rPr lang="en-IN" sz="3200" dirty="0">
                <a:latin typeface="Bahnschrift SemiBold" panose="020B0502040204020203" pitchFamily="34" charset="0"/>
              </a:rPr>
              <a:t>SHATHANAN S            - 25CDR095</a:t>
            </a:r>
          </a:p>
          <a:p>
            <a:r>
              <a:rPr lang="en-IN" sz="3200" dirty="0">
                <a:latin typeface="Bahnschrift SemiBold" panose="020B0502040204020203" pitchFamily="34" charset="0"/>
              </a:rPr>
              <a:t>PRADAP D                   - 25CDR063</a:t>
            </a:r>
          </a:p>
        </p:txBody>
      </p:sp>
    </p:spTree>
    <p:extLst>
      <p:ext uri="{BB962C8B-B14F-4D97-AF65-F5344CB8AC3E}">
        <p14:creationId xmlns:p14="http://schemas.microsoft.com/office/powerpoint/2010/main" val="4228977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F1A9D8-469B-ADD1-A4BD-A7F2FE9F062D}"/>
              </a:ext>
            </a:extLst>
          </p:cNvPr>
          <p:cNvSpPr txBox="1"/>
          <p:nvPr/>
        </p:nvSpPr>
        <p:spPr>
          <a:xfrm>
            <a:off x="491494" y="457068"/>
            <a:ext cx="6430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ahnschrift SemiBold" panose="020B0502040204020203" pitchFamily="34" charset="0"/>
              </a:rPr>
              <a:t>TARGET USERS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EACBB-DFF5-90B3-23B7-67E818B08EC9}"/>
              </a:ext>
            </a:extLst>
          </p:cNvPr>
          <p:cNvSpPr txBox="1"/>
          <p:nvPr/>
        </p:nvSpPr>
        <p:spPr>
          <a:xfrm>
            <a:off x="771447" y="1041843"/>
            <a:ext cx="123013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Students &amp; Educators</a:t>
            </a:r>
            <a:r>
              <a:rPr lang="en-US" sz="2000" dirty="0"/>
              <a:t> – For interactive and hands-free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Engineers &amp; Architects</a:t>
            </a:r>
            <a:r>
              <a:rPr lang="en-US" sz="2000" dirty="0"/>
              <a:t> – For quick, on-site calculations in 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Researchers &amp; Scientists</a:t>
            </a:r>
            <a:r>
              <a:rPr lang="en-US" sz="2000" dirty="0"/>
              <a:t> – For real-time data computation.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Business Professionals</a:t>
            </a:r>
            <a:r>
              <a:rPr lang="en-US" sz="2000" dirty="0"/>
              <a:t> – For instant number crunching anywhere.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AR/VR Users</a:t>
            </a:r>
            <a:r>
              <a:rPr lang="en-US" sz="2000" dirty="0"/>
              <a:t> – For immersive, tech-driven experiences</a:t>
            </a:r>
            <a:r>
              <a:rPr lang="en-US" dirty="0"/>
              <a:t>.</a:t>
            </a:r>
          </a:p>
        </p:txBody>
      </p:sp>
      <p:pic>
        <p:nvPicPr>
          <p:cNvPr id="14" name="Picture 13" descr="A wireframe of a smart watch&#10;&#10;AI-generated content may be incorrect.">
            <a:extLst>
              <a:ext uri="{FF2B5EF4-FFF2-40B4-BE49-F238E27FC236}">
                <a16:creationId xmlns:a16="http://schemas.microsoft.com/office/drawing/2014/main" id="{6E97EFB3-F570-1BDD-8B9C-7C2E24FBD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399" y="3504452"/>
            <a:ext cx="3778600" cy="2974731"/>
          </a:xfrm>
          <a:prstGeom prst="rect">
            <a:avLst/>
          </a:prstGeom>
        </p:spPr>
      </p:pic>
      <p:pic>
        <p:nvPicPr>
          <p:cNvPr id="18" name="Picture 17" descr="A wire-frame ring with green lights&#10;&#10;AI-generated content may be incorrect.">
            <a:extLst>
              <a:ext uri="{FF2B5EF4-FFF2-40B4-BE49-F238E27FC236}">
                <a16:creationId xmlns:a16="http://schemas.microsoft.com/office/drawing/2014/main" id="{B940DEC1-7E93-38F7-EE41-B22EDB84F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29" r="9590"/>
          <a:stretch>
            <a:fillRect/>
          </a:stretch>
        </p:blipFill>
        <p:spPr>
          <a:xfrm>
            <a:off x="6561573" y="3504452"/>
            <a:ext cx="3778601" cy="29701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B9CD0C6-0707-F2D0-47EE-EE2702F226EE}"/>
              </a:ext>
            </a:extLst>
          </p:cNvPr>
          <p:cNvSpPr txBox="1"/>
          <p:nvPr/>
        </p:nvSpPr>
        <p:spPr>
          <a:xfrm>
            <a:off x="5076092" y="2967335"/>
            <a:ext cx="2239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CALCWEAR</a:t>
            </a:r>
          </a:p>
        </p:txBody>
      </p:sp>
    </p:spTree>
    <p:extLst>
      <p:ext uri="{BB962C8B-B14F-4D97-AF65-F5344CB8AC3E}">
        <p14:creationId xmlns:p14="http://schemas.microsoft.com/office/powerpoint/2010/main" val="173876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FBB915-5351-3DC6-63BA-34CE07744CDA}"/>
              </a:ext>
            </a:extLst>
          </p:cNvPr>
          <p:cNvSpPr txBox="1"/>
          <p:nvPr/>
        </p:nvSpPr>
        <p:spPr>
          <a:xfrm>
            <a:off x="733530" y="964642"/>
            <a:ext cx="971675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A </a:t>
            </a:r>
            <a:r>
              <a:rPr lang="en-US" sz="2400" b="1" dirty="0">
                <a:latin typeface="Bahnschrift SemiBold" panose="020B0502040204020203" pitchFamily="34" charset="0"/>
              </a:rPr>
              <a:t>smart wearable band</a:t>
            </a:r>
            <a:r>
              <a:rPr lang="en-US" sz="2400" dirty="0">
                <a:latin typeface="Bahnschrift SemiBold" panose="020B0502040204020203" pitchFamily="34" charset="0"/>
              </a:rPr>
              <a:t> that functions as a calculator using gesture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Bahnschrift SemiBold" panose="020B0502040204020203" pitchFamily="34" charset="0"/>
              </a:rPr>
              <a:t>Connects with Meta Glasses</a:t>
            </a:r>
            <a:r>
              <a:rPr lang="en-US" sz="2400" dirty="0">
                <a:latin typeface="Bahnschrift SemiBold" panose="020B0502040204020203" pitchFamily="34" charset="0"/>
              </a:rPr>
              <a:t> to display a virtual calculator interface in 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Detects </a:t>
            </a:r>
            <a:r>
              <a:rPr lang="en-US" sz="2400" b="1" dirty="0">
                <a:latin typeface="Bahnschrift SemiBold" panose="020B0502040204020203" pitchFamily="34" charset="0"/>
              </a:rPr>
              <a:t>hand and finger gestures</a:t>
            </a:r>
            <a:r>
              <a:rPr lang="en-US" sz="2400" dirty="0">
                <a:latin typeface="Bahnschrift SemiBold" panose="020B0502040204020203" pitchFamily="34" charset="0"/>
              </a:rPr>
              <a:t> to input numbers and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Projects a </a:t>
            </a:r>
            <a:r>
              <a:rPr lang="en-US" sz="2400" b="1" dirty="0">
                <a:latin typeface="Bahnschrift SemiBold" panose="020B0502040204020203" pitchFamily="34" charset="0"/>
              </a:rPr>
              <a:t>virtual keyboard</a:t>
            </a:r>
            <a:r>
              <a:rPr lang="en-US" sz="2400" dirty="0">
                <a:latin typeface="Bahnschrift SemiBold" panose="020B0502040204020203" pitchFamily="34" charset="0"/>
              </a:rPr>
              <a:t> on any surface or in mid-air.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Shows </a:t>
            </a:r>
            <a:r>
              <a:rPr lang="en-US" sz="2400" b="1" dirty="0">
                <a:latin typeface="Bahnschrift SemiBold" panose="020B0502040204020203" pitchFamily="34" charset="0"/>
              </a:rPr>
              <a:t>real-time inputs and results</a:t>
            </a:r>
            <a:r>
              <a:rPr lang="en-US" sz="2400" dirty="0">
                <a:latin typeface="Bahnschrift SemiBold" panose="020B0502040204020203" pitchFamily="34" charset="0"/>
              </a:rPr>
              <a:t> through AR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Provides </a:t>
            </a:r>
            <a:r>
              <a:rPr lang="en-US" sz="2400" b="1" dirty="0">
                <a:latin typeface="Bahnschrift SemiBold" panose="020B0502040204020203" pitchFamily="34" charset="0"/>
              </a:rPr>
              <a:t>haptic feedback</a:t>
            </a:r>
            <a:r>
              <a:rPr lang="en-US" sz="2400" dirty="0">
                <a:latin typeface="Bahnschrift SemiBold" panose="020B0502040204020203" pitchFamily="34" charset="0"/>
              </a:rPr>
              <a:t> for a realistic, tactile feel.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Works </a:t>
            </a:r>
            <a:r>
              <a:rPr lang="en-US" sz="2400" b="1" dirty="0">
                <a:latin typeface="Bahnschrift SemiBold" panose="020B0502040204020203" pitchFamily="34" charset="0"/>
              </a:rPr>
              <a:t>wirelessly and hands-free</a:t>
            </a:r>
            <a:r>
              <a:rPr lang="en-US" sz="2400" dirty="0">
                <a:latin typeface="Bahnschrift SemiBold" panose="020B0502040204020203" pitchFamily="34" charset="0"/>
              </a:rPr>
              <a:t>, offering total mobility.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Bahnschrift SemiBold" panose="020B0502040204020203" pitchFamily="34" charset="0"/>
              </a:rPr>
              <a:t>Boosts productivity</a:t>
            </a:r>
            <a:r>
              <a:rPr lang="en-US" sz="2400" dirty="0">
                <a:latin typeface="Bahnschrift SemiBold" panose="020B0502040204020203" pitchFamily="34" charset="0"/>
              </a:rPr>
              <a:t> by removing the need for physical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Gives users a </a:t>
            </a:r>
            <a:r>
              <a:rPr lang="en-US" sz="2400" b="1" dirty="0">
                <a:latin typeface="Bahnschrift SemiBold" panose="020B0502040204020203" pitchFamily="34" charset="0"/>
              </a:rPr>
              <a:t>futuristic and immersive experience</a:t>
            </a:r>
            <a:r>
              <a:rPr lang="en-US" sz="2400" dirty="0">
                <a:latin typeface="Bahnschrift SemiBold" panose="020B0502040204020203" pitchFamily="34" charset="0"/>
              </a:rPr>
              <a:t> in 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Can evolve into a </a:t>
            </a:r>
            <a:r>
              <a:rPr lang="en-US" sz="2400" b="1" dirty="0">
                <a:latin typeface="Bahnschrift SemiBold" panose="020B0502040204020203" pitchFamily="34" charset="0"/>
              </a:rPr>
              <a:t>universal AR control tool</a:t>
            </a:r>
            <a:r>
              <a:rPr lang="en-US" sz="2400" dirty="0">
                <a:latin typeface="Bahnschrift SemiBold" panose="020B0502040204020203" pitchFamily="34" charset="0"/>
              </a:rPr>
              <a:t> for notes, 3D modeling, and more.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815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ands typing on a keyboard&#10;&#10;AI-generated content may be incorrect.">
            <a:extLst>
              <a:ext uri="{FF2B5EF4-FFF2-40B4-BE49-F238E27FC236}">
                <a16:creationId xmlns:a16="http://schemas.microsoft.com/office/drawing/2014/main" id="{EB17E365-FCD3-C0BF-7F31-302ACD8D1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084" y="1808702"/>
            <a:ext cx="4282474" cy="2853867"/>
          </a:xfrm>
          <a:prstGeom prst="rect">
            <a:avLst/>
          </a:prstGeom>
        </p:spPr>
      </p:pic>
      <p:pic>
        <p:nvPicPr>
          <p:cNvPr id="5" name="Picture 4" descr="A close up of a pair of glasses&#10;&#10;AI-generated content may be incorrect.">
            <a:extLst>
              <a:ext uri="{FF2B5EF4-FFF2-40B4-BE49-F238E27FC236}">
                <a16:creationId xmlns:a16="http://schemas.microsoft.com/office/drawing/2014/main" id="{17228981-17EE-C878-DB0F-DB04BDDB2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9" r="7200"/>
          <a:stretch>
            <a:fillRect/>
          </a:stretch>
        </p:blipFill>
        <p:spPr>
          <a:xfrm>
            <a:off x="904352" y="1808701"/>
            <a:ext cx="4647565" cy="28538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AF1E81-264A-6CD0-13B9-89EE019E1794}"/>
              </a:ext>
            </a:extLst>
          </p:cNvPr>
          <p:cNvSpPr txBox="1"/>
          <p:nvPr/>
        </p:nvSpPr>
        <p:spPr>
          <a:xfrm>
            <a:off x="1215851" y="5245240"/>
            <a:ext cx="39289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Bahnschrift SemiBold" panose="020B0502040204020203" pitchFamily="34" charset="0"/>
              </a:rPr>
              <a:t>AR GLASS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OUTPUT UNIT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2A3FA7-9DB6-E199-254A-6DE563963D1A}"/>
              </a:ext>
            </a:extLst>
          </p:cNvPr>
          <p:cNvSpPr txBox="1"/>
          <p:nvPr/>
        </p:nvSpPr>
        <p:spPr>
          <a:xfrm>
            <a:off x="7147727" y="5245240"/>
            <a:ext cx="382842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Bahnschrift SemiBold" panose="020B0502040204020203" pitchFamily="34" charset="0"/>
              </a:rPr>
              <a:t>VRITUAL KEYBOARD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INPUT UNIT</a:t>
            </a:r>
          </a:p>
          <a:p>
            <a:r>
              <a:rPr lang="en-IN" dirty="0">
                <a:latin typeface="Arial Black" panose="020B0A04020102020204" pitchFamily="34" charset="0"/>
              </a:rPr>
              <a:t>     (</a:t>
            </a:r>
            <a:r>
              <a:rPr lang="en-IN" dirty="0"/>
              <a:t>WITH TOUCH AND HAPTIC FEEDBACK BAND</a:t>
            </a:r>
            <a:r>
              <a:rPr lang="en-IN" dirty="0">
                <a:latin typeface="Arial Black" panose="020B0A04020102020204" pitchFamily="34" charset="0"/>
              </a:rPr>
              <a:t>)  </a:t>
            </a:r>
          </a:p>
        </p:txBody>
      </p:sp>
    </p:spTree>
    <p:extLst>
      <p:ext uri="{BB962C8B-B14F-4D97-AF65-F5344CB8AC3E}">
        <p14:creationId xmlns:p14="http://schemas.microsoft.com/office/powerpoint/2010/main" val="2492262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97A439-393C-8F4F-F006-C05A2ED7E72A}"/>
              </a:ext>
            </a:extLst>
          </p:cNvPr>
          <p:cNvSpPr txBox="1"/>
          <p:nvPr/>
        </p:nvSpPr>
        <p:spPr>
          <a:xfrm>
            <a:off x="3098242" y="3278274"/>
            <a:ext cx="99880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Copperplate Gothic Bold" panose="020E0705020206020404" pitchFamily="34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75700257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42</TotalTime>
  <Words>213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Bahnschrift SemiBold</vt:lpstr>
      <vt:lpstr>Century Gothic</vt:lpstr>
      <vt:lpstr>Copperplate Gothic Bold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Sanjay Kumar</dc:creator>
  <cp:lastModifiedBy>Sanjay Kumar</cp:lastModifiedBy>
  <cp:revision>1</cp:revision>
  <dcterms:created xsi:type="dcterms:W3CDTF">2025-10-28T01:13:53Z</dcterms:created>
  <dcterms:modified xsi:type="dcterms:W3CDTF">2025-11-20T05:56:05Z</dcterms:modified>
</cp:coreProperties>
</file>